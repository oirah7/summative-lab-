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285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explores the IMDB database to see how genre relates to audience reach (number of votes) and audience approval (average rating). The goal is to identify a business question a studio could investigate further.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from the exploration. Most rated movies have very few votes, so I filtered to movies with at least 1,000 votes for reliable averages. The genres with the largest audiences (Adventure, Sci-Fi, Fantasy) aren’t the highest rated, and the highest-rated genres (Documentary, Biography, History) have smaller audiences. Longer runtimes go with higher ratings and more votes.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reason for the business question. Each bubble is a genre. Further right means a higher average rating; higher up means more votes per movie, which I use as a measure of audience reach. The top-left blockbuster genres reach the most people but rate only around 6. The bottom-right genres rate well but reach fewer people. Animation sits alone in the top-right corner, and Biography is just below it. A deeper analysis would test whether these genres are a lower-risk way to produce well-received films that still find an audience.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cleaning tasks I found during exploration; I didn’t perform them, as the lab instructs. The biggest issues are out-of-range years, nulls in runtime and genres, genres stored as comma-separated strings, impossible runtimes, and ratings based on very few votes.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exploration suggests Animation, and to a lesser extent Biography, combine above-average ratings with solid reach. Before acting on that, the data needs cleaning, the analysis should go one level deeper, and financial data is needed, because votes measure attention, not profit.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181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724025"/>
            <a:ext cx="10566400" cy="2800350"/>
          </a:xfrm>
          <a:prstGeom prst="rect">
            <a:avLst/>
          </a:prstGeom>
          <a:noFill/>
          <a:ln/>
        </p:spPr>
        <p:txBody>
          <a:bodyPr wrap="square" lIns="0" tIns="0" rIns="0" bIns="0" rtlCol="0" anchor="t"/>
          <a:lstStyle>
            <a:lvl1pPr marL="0" indent="0" algn="l">
              <a:lnSpc>
                <a:spcPct val="110000"/>
              </a:lnSpc>
              <a:buNone/>
              <a:defRPr lang="en-US" sz="7000" dirty="0">
                <a:solidFill>
                  <a:srgbClr val="F6F3EC"/>
                </a:solidFill>
                <a:latin typeface="Arial" pitchFamily="34" charset="0"/>
                <a:ea typeface="Arial" pitchFamily="34" charset="-122"/>
                <a:cs typeface="Arial" pitchFamily="34" charset="-120"/>
              </a:defRPr>
            </a:lvl1pPr>
          </a:lstStyle>
          <a:p>
            <a:pPr marL="0" indent="0" algn="l">
              <a:lnSpc>
                <a:spcPct val="110000"/>
              </a:lnSpc>
              <a:buNone/>
            </a:pPr>
            <a:endParaRPr lang="en-US" sz="7000" dirty="0"/>
          </a:p>
        </p:txBody>
      </p:sp>
      <p:sp>
        <p:nvSpPr>
          <p:cNvPr id="3" name="Text Placeholder 2"/>
          <p:cNvSpPr>
            <a:spLocks noGrp="1"/>
          </p:cNvSpPr>
          <p:nvPr>
            <p:ph type="body" idx="101"/>
          </p:nvPr>
        </p:nvSpPr>
        <p:spPr>
          <a:xfrm>
            <a:off x="812800" y="4829175"/>
            <a:ext cx="10566400" cy="1216025"/>
          </a:xfrm>
          <a:prstGeom prst="rect">
            <a:avLst/>
          </a:prstGeom>
          <a:noFill/>
          <a:ln/>
        </p:spPr>
        <p:txBody>
          <a:bodyPr wrap="square" lIns="0" tIns="0" rIns="0" bIns="0" rtlCol="0" anchor="t"/>
          <a:lstStyle>
            <a:lvl1pPr marL="0" indent="0" algn="l">
              <a:lnSpc>
                <a:spcPct val="140000"/>
              </a:lnSpc>
              <a:buNone/>
              <a:defRPr lang="en-US" sz="1600" dirty="0">
                <a:solidFill>
                  <a:srgbClr val="F6F3E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81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724025"/>
            <a:ext cx="10566400" cy="2800350"/>
          </a:xfrm>
          <a:prstGeom prst="rect">
            <a:avLst/>
          </a:prstGeom>
          <a:noFill/>
          <a:ln/>
        </p:spPr>
        <p:txBody>
          <a:bodyPr wrap="square" lIns="0" tIns="0" rIns="0" bIns="0" rtlCol="0" anchor="t"/>
          <a:lstStyle>
            <a:lvl1pPr marL="0" indent="0" algn="l">
              <a:lnSpc>
                <a:spcPct val="110000"/>
              </a:lnSpc>
              <a:buNone/>
              <a:defRPr lang="en-US" sz="7000" dirty="0">
                <a:solidFill>
                  <a:srgbClr val="F6F3EC"/>
                </a:solidFill>
                <a:latin typeface="Arial" pitchFamily="34" charset="0"/>
                <a:ea typeface="Arial" pitchFamily="34" charset="-122"/>
                <a:cs typeface="Arial" pitchFamily="34" charset="-120"/>
              </a:defRPr>
            </a:lvl1pPr>
          </a:lstStyle>
          <a:p>
            <a:pPr marL="0" indent="0" algn="l">
              <a:lnSpc>
                <a:spcPct val="110000"/>
              </a:lnSpc>
              <a:buNone/>
            </a:pPr>
            <a:endParaRPr lang="en-US" sz="7000" dirty="0"/>
          </a:p>
        </p:txBody>
      </p:sp>
      <p:sp>
        <p:nvSpPr>
          <p:cNvPr id="3" name="Text Placeholder 2"/>
          <p:cNvSpPr>
            <a:spLocks noGrp="1"/>
          </p:cNvSpPr>
          <p:nvPr>
            <p:ph type="body" idx="101"/>
          </p:nvPr>
        </p:nvSpPr>
        <p:spPr>
          <a:xfrm>
            <a:off x="812800" y="4829175"/>
            <a:ext cx="10566400" cy="1216025"/>
          </a:xfrm>
          <a:prstGeom prst="rect">
            <a:avLst/>
          </a:prstGeom>
          <a:noFill/>
          <a:ln/>
        </p:spPr>
        <p:txBody>
          <a:bodyPr wrap="square" lIns="0" tIns="0" rIns="0" bIns="0" rtlCol="0" anchor="t"/>
          <a:lstStyle>
            <a:lvl1pPr marL="0" indent="0" algn="l">
              <a:lnSpc>
                <a:spcPct val="140000"/>
              </a:lnSpc>
              <a:buNone/>
              <a:defRPr lang="en-US" sz="1600" dirty="0">
                <a:solidFill>
                  <a:srgbClr val="F6F3E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8A33D"/>
                </a:solidFill>
                <a:latin typeface="Arial" pitchFamily="34" charset="0"/>
                <a:ea typeface="Arial" pitchFamily="34" charset="-122"/>
                <a:cs typeface="Arial" pitchFamily="34" charset="-120"/>
              </a:rPr>
              <a:t>SQL SUMMATIVE LAB · PART 2</a:t>
            </a:r>
            <a:endParaRPr lang="en-US" sz="1400" dirty="0"/>
          </a:p>
        </p:txBody>
      </p:sp>
      <p:sp>
        <p:nvSpPr>
          <p:cNvPr id="4" name="Text 2"/>
          <p:cNvSpPr>
            <a:spLocks noGrp="1"/>
          </p:cNvSpPr>
          <p:nvPr>
            <p:ph type="title"/>
          </p:nvPr>
        </p:nvSpPr>
        <p:spPr>
          <a:xfrm>
            <a:off x="812800" y="1724025"/>
            <a:ext cx="10883392" cy="2825750"/>
          </a:xfrm>
          <a:prstGeom prst="rect">
            <a:avLst/>
          </a:prstGeom>
          <a:noFill/>
          <a:ln/>
        </p:spPr>
        <p:txBody>
          <a:bodyPr wrap="square" lIns="0" tIns="0" rIns="0" bIns="0" rtlCol="0" anchor="t">
            <a:normAutofit/>
          </a:bodyPr>
          <a:lstStyle/>
          <a:p>
            <a:pPr marL="0" indent="0" algn="l">
              <a:lnSpc>
                <a:spcPts val="7350"/>
              </a:lnSpc>
              <a:buNone/>
            </a:pPr>
            <a:r>
              <a:rPr lang="en-US" sz="7000" b="1" i="0" dirty="0">
                <a:solidFill>
                  <a:srgbClr val="F6F3EC"/>
                </a:solidFill>
                <a:latin typeface="Arial" pitchFamily="34" charset="0"/>
                <a:ea typeface="Arial" pitchFamily="34" charset="-122"/>
                <a:cs typeface="Arial" pitchFamily="34" charset="-120"/>
              </a:rPr>
              <a:t>BLOCKBUSTER REACH</a:t>
            </a:r>
            <a:endParaRPr lang="en-US" sz="7000" dirty="0"/>
          </a:p>
          <a:p>
            <a:pPr marL="0" indent="0" algn="l">
              <a:lnSpc>
                <a:spcPts val="7350"/>
              </a:lnSpc>
              <a:buNone/>
            </a:pPr>
            <a:r>
              <a:rPr lang="en-US" sz="7000" b="1" i="0" dirty="0">
                <a:solidFill>
                  <a:srgbClr val="F6F3EC"/>
                </a:solidFill>
                <a:latin typeface="Arial" pitchFamily="34" charset="0"/>
                <a:ea typeface="Arial" pitchFamily="34" charset="-122"/>
                <a:cs typeface="Arial" pitchFamily="34" charset="-120"/>
              </a:rPr>
              <a:t>OR CRITICAL ACCLAIM?</a:t>
            </a:r>
            <a:endParaRPr lang="en-US" sz="7000" dirty="0"/>
          </a:p>
        </p:txBody>
      </p:sp>
      <p:sp>
        <p:nvSpPr>
          <p:cNvPr id="5" name="Text 3"/>
          <p:cNvSpPr/>
          <p:nvPr/>
        </p:nvSpPr>
        <p:spPr>
          <a:xfrm>
            <a:off x="812800" y="4778375"/>
            <a:ext cx="85026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CCD3"/>
                </a:solidFill>
                <a:latin typeface="Arial" pitchFamily="34" charset="0"/>
                <a:ea typeface="Arial" pitchFamily="34" charset="-122"/>
                <a:cs typeface="Arial" pitchFamily="34" charset="-120"/>
              </a:rPr>
              <a:t>An exploratory analysis of IMDB movie genres, 2010–2019</a:t>
            </a:r>
            <a:endParaRPr lang="en-US" sz="2000" dirty="0"/>
          </a:p>
        </p:txBody>
      </p:sp>
      <p:sp>
        <p:nvSpPr>
          <p:cNvPr id="6" name="Text 4"/>
          <p:cNvSpPr/>
          <p:nvPr/>
        </p:nvSpPr>
        <p:spPr>
          <a:xfrm>
            <a:off x="812800" y="579629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D3"/>
                </a:solidFill>
                <a:latin typeface="Arial" pitchFamily="34" charset="0"/>
                <a:ea typeface="Arial" pitchFamily="34" charset="-122"/>
                <a:cs typeface="Arial" pitchFamily="34" charset="-120"/>
              </a:rPr>
              <a:t>Data: IMDB (im.db) · 146,144 movies · 73,856 rated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9A5B0E"/>
                </a:solidFill>
                <a:latin typeface="Arial" pitchFamily="34" charset="0"/>
                <a:ea typeface="Arial" pitchFamily="34" charset="-122"/>
                <a:cs typeface="Arial" pitchFamily="34" charset="-120"/>
              </a:rPr>
              <a:t>INITIAL EXPLORATION</a:t>
            </a:r>
            <a:endParaRPr lang="en-US" sz="1300" dirty="0"/>
          </a:p>
        </p:txBody>
      </p:sp>
      <p:sp>
        <p:nvSpPr>
          <p:cNvPr id="3" name="Text 1"/>
          <p:cNvSpPr>
            <a:spLocks noGrp="1"/>
          </p:cNvSpPr>
          <p:nvPr>
            <p:ph type="title"/>
          </p:nvPr>
        </p:nvSpPr>
        <p:spPr>
          <a:xfrm>
            <a:off x="812800" y="1145514"/>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Arial" pitchFamily="34" charset="0"/>
                <a:ea typeface="Arial" pitchFamily="34" charset="-122"/>
                <a:cs typeface="Arial" pitchFamily="34" charset="-120"/>
              </a:rPr>
              <a:t>WHAT THE DATA SHOWED</a:t>
            </a:r>
            <a:endParaRPr lang="en-US" sz="3600" dirty="0"/>
          </a:p>
        </p:txBody>
      </p:sp>
      <p:sp>
        <p:nvSpPr>
          <p:cNvPr id="4" name="Shape 2"/>
          <p:cNvSpPr/>
          <p:nvPr/>
        </p:nvSpPr>
        <p:spPr>
          <a:xfrm>
            <a:off x="815975" y="1956395"/>
            <a:ext cx="2482850" cy="2326084"/>
          </a:xfrm>
          <a:prstGeom prst="roundRect">
            <a:avLst>
              <a:gd name="adj" fmla="val 4231"/>
            </a:avLst>
          </a:prstGeom>
          <a:solidFill>
            <a:srgbClr val="FFFDF8"/>
          </a:solidFill>
          <a:ln w="6350">
            <a:solidFill>
              <a:srgbClr val="DED8CA"/>
            </a:solidFill>
            <a:prstDash val="solid"/>
          </a:ln>
        </p:spPr>
      </p:sp>
      <p:sp>
        <p:nvSpPr>
          <p:cNvPr id="5" name="Text 3"/>
          <p:cNvSpPr/>
          <p:nvPr/>
        </p:nvSpPr>
        <p:spPr>
          <a:xfrm>
            <a:off x="1071033" y="2211454"/>
            <a:ext cx="203191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2F6DB5"/>
                </a:solidFill>
                <a:latin typeface="Arial" pitchFamily="34" charset="0"/>
                <a:ea typeface="Arial" pitchFamily="34" charset="-122"/>
                <a:cs typeface="Arial" pitchFamily="34" charset="-120"/>
              </a:rPr>
              <a:t>9,617</a:t>
            </a:r>
            <a:endParaRPr lang="en-US" sz="4400" dirty="0"/>
          </a:p>
        </p:txBody>
      </p:sp>
      <p:sp>
        <p:nvSpPr>
          <p:cNvPr id="6" name="Text 4"/>
          <p:cNvSpPr/>
          <p:nvPr/>
        </p:nvSpPr>
        <p:spPr>
          <a:xfrm>
            <a:off x="1071033" y="2871854"/>
            <a:ext cx="2031915" cy="11809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A"/>
                </a:solidFill>
                <a:latin typeface="Arial" pitchFamily="34" charset="0"/>
                <a:ea typeface="Arial" pitchFamily="34" charset="-122"/>
                <a:cs typeface="Arial" pitchFamily="34" charset="-120"/>
              </a:rPr>
              <a:t>movies have 1,000+ votes. 45,103 of 73,856 rated movies have fewer than 100 votes, so their ratings aren’t reliable.</a:t>
            </a:r>
            <a:endParaRPr lang="en-US" sz="1300" dirty="0"/>
          </a:p>
        </p:txBody>
      </p:sp>
      <p:sp>
        <p:nvSpPr>
          <p:cNvPr id="7" name="Shape 5"/>
          <p:cNvSpPr/>
          <p:nvPr/>
        </p:nvSpPr>
        <p:spPr>
          <a:xfrm>
            <a:off x="3508375" y="1956395"/>
            <a:ext cx="2482850" cy="2326084"/>
          </a:xfrm>
          <a:prstGeom prst="roundRect">
            <a:avLst>
              <a:gd name="adj" fmla="val 4231"/>
            </a:avLst>
          </a:prstGeom>
          <a:solidFill>
            <a:srgbClr val="FFFDF8"/>
          </a:solidFill>
          <a:ln w="6350">
            <a:solidFill>
              <a:srgbClr val="DED8CA"/>
            </a:solidFill>
            <a:prstDash val="solid"/>
          </a:ln>
        </p:spPr>
      </p:sp>
      <p:sp>
        <p:nvSpPr>
          <p:cNvPr id="8" name="Text 6"/>
          <p:cNvSpPr/>
          <p:nvPr/>
        </p:nvSpPr>
        <p:spPr>
          <a:xfrm>
            <a:off x="3763433" y="2211454"/>
            <a:ext cx="203191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2F6DB5"/>
                </a:solidFill>
                <a:latin typeface="Arial" pitchFamily="34" charset="0"/>
                <a:ea typeface="Arial" pitchFamily="34" charset="-122"/>
                <a:cs typeface="Arial" pitchFamily="34" charset="-120"/>
              </a:rPr>
              <a:t>83.7k</a:t>
            </a:r>
            <a:endParaRPr lang="en-US" sz="4400" dirty="0"/>
          </a:p>
        </p:txBody>
      </p:sp>
      <p:sp>
        <p:nvSpPr>
          <p:cNvPr id="9" name="Text 7"/>
          <p:cNvSpPr/>
          <p:nvPr/>
        </p:nvSpPr>
        <p:spPr>
          <a:xfrm>
            <a:off x="3763433" y="2871854"/>
            <a:ext cx="2031915" cy="11809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A"/>
                </a:solidFill>
                <a:latin typeface="Arial" pitchFamily="34" charset="0"/>
                <a:ea typeface="Arial" pitchFamily="34" charset="-122"/>
                <a:cs typeface="Arial" pitchFamily="34" charset="-120"/>
              </a:rPr>
              <a:t>average votes per Adventure movie, the highest reach of any genre. 21.9% pass 100,000 votes.</a:t>
            </a:r>
            <a:endParaRPr lang="en-US" sz="1300" dirty="0"/>
          </a:p>
        </p:txBody>
      </p:sp>
      <p:sp>
        <p:nvSpPr>
          <p:cNvPr id="10" name="Shape 8"/>
          <p:cNvSpPr/>
          <p:nvPr/>
        </p:nvSpPr>
        <p:spPr>
          <a:xfrm>
            <a:off x="6200775" y="1956395"/>
            <a:ext cx="2482850" cy="2326084"/>
          </a:xfrm>
          <a:prstGeom prst="roundRect">
            <a:avLst>
              <a:gd name="adj" fmla="val 4231"/>
            </a:avLst>
          </a:prstGeom>
          <a:solidFill>
            <a:srgbClr val="FFFDF8"/>
          </a:solidFill>
          <a:ln w="6350">
            <a:solidFill>
              <a:srgbClr val="DED8CA"/>
            </a:solidFill>
            <a:prstDash val="solid"/>
          </a:ln>
        </p:spPr>
      </p:sp>
      <p:sp>
        <p:nvSpPr>
          <p:cNvPr id="11" name="Text 9"/>
          <p:cNvSpPr/>
          <p:nvPr/>
        </p:nvSpPr>
        <p:spPr>
          <a:xfrm>
            <a:off x="6455833" y="2211454"/>
            <a:ext cx="203191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7A4E9E"/>
                </a:solidFill>
                <a:latin typeface="Arial" pitchFamily="34" charset="0"/>
                <a:ea typeface="Arial" pitchFamily="34" charset="-122"/>
                <a:cs typeface="Arial" pitchFamily="34" charset="-120"/>
              </a:rPr>
              <a:t>7.27</a:t>
            </a:r>
            <a:endParaRPr lang="en-US" sz="4400" dirty="0"/>
          </a:p>
        </p:txBody>
      </p:sp>
      <p:sp>
        <p:nvSpPr>
          <p:cNvPr id="12" name="Text 10"/>
          <p:cNvSpPr/>
          <p:nvPr/>
        </p:nvSpPr>
        <p:spPr>
          <a:xfrm>
            <a:off x="6455833" y="2871854"/>
            <a:ext cx="2031915" cy="94985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A"/>
                </a:solidFill>
                <a:latin typeface="Arial" pitchFamily="34" charset="0"/>
                <a:ea typeface="Arial" pitchFamily="34" charset="-122"/>
                <a:cs typeface="Arial" pitchFamily="34" charset="-120"/>
              </a:rPr>
              <a:t>average rating for Documentary, the highest, yet no documentary reaches 100,000 votes.</a:t>
            </a:r>
            <a:endParaRPr lang="en-US" sz="1300" dirty="0"/>
          </a:p>
        </p:txBody>
      </p:sp>
      <p:sp>
        <p:nvSpPr>
          <p:cNvPr id="13" name="Shape 11"/>
          <p:cNvSpPr/>
          <p:nvPr/>
        </p:nvSpPr>
        <p:spPr>
          <a:xfrm>
            <a:off x="8893175" y="1956395"/>
            <a:ext cx="2482850" cy="2326084"/>
          </a:xfrm>
          <a:prstGeom prst="roundRect">
            <a:avLst>
              <a:gd name="adj" fmla="val 4231"/>
            </a:avLst>
          </a:prstGeom>
          <a:solidFill>
            <a:srgbClr val="FFFDF8"/>
          </a:solidFill>
          <a:ln w="6350">
            <a:solidFill>
              <a:srgbClr val="DED8CA"/>
            </a:solidFill>
            <a:prstDash val="solid"/>
          </a:ln>
        </p:spPr>
      </p:sp>
      <p:sp>
        <p:nvSpPr>
          <p:cNvPr id="14" name="Text 12"/>
          <p:cNvSpPr/>
          <p:nvPr/>
        </p:nvSpPr>
        <p:spPr>
          <a:xfrm>
            <a:off x="9148234" y="2211454"/>
            <a:ext cx="203191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7A4E9E"/>
                </a:solidFill>
                <a:latin typeface="Arial" pitchFamily="34" charset="0"/>
                <a:ea typeface="Arial" pitchFamily="34" charset="-122"/>
                <a:cs typeface="Arial" pitchFamily="34" charset="-120"/>
              </a:rPr>
              <a:t>5.28</a:t>
            </a:r>
            <a:endParaRPr lang="en-US" sz="4400" dirty="0"/>
          </a:p>
        </p:txBody>
      </p:sp>
      <p:sp>
        <p:nvSpPr>
          <p:cNvPr id="15" name="Text 13"/>
          <p:cNvSpPr/>
          <p:nvPr/>
        </p:nvSpPr>
        <p:spPr>
          <a:xfrm>
            <a:off x="9148234" y="2871854"/>
            <a:ext cx="2031915"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A"/>
                </a:solidFill>
                <a:latin typeface="Arial" pitchFamily="34" charset="0"/>
                <a:ea typeface="Arial" pitchFamily="34" charset="-122"/>
                <a:cs typeface="Arial" pitchFamily="34" charset="-120"/>
              </a:rPr>
              <a:t>average rating for Horror, the lowest of any genre, despite 1,315 movies.</a:t>
            </a:r>
            <a:endParaRPr lang="en-US" sz="1300" dirty="0"/>
          </a:p>
        </p:txBody>
      </p:sp>
      <p:sp>
        <p:nvSpPr>
          <p:cNvPr id="16" name="Shape 14"/>
          <p:cNvSpPr/>
          <p:nvPr/>
        </p:nvSpPr>
        <p:spPr>
          <a:xfrm>
            <a:off x="812800" y="4590455"/>
            <a:ext cx="10566400" cy="955014"/>
          </a:xfrm>
          <a:prstGeom prst="roundRect">
            <a:avLst>
              <a:gd name="adj" fmla="val 10639"/>
            </a:avLst>
          </a:prstGeom>
          <a:solidFill>
            <a:srgbClr val="16181D"/>
          </a:solidFill>
          <a:ln/>
        </p:spPr>
      </p:sp>
      <p:sp>
        <p:nvSpPr>
          <p:cNvPr id="17" name="Text 15"/>
          <p:cNvSpPr/>
          <p:nvPr/>
        </p:nvSpPr>
        <p:spPr>
          <a:xfrm>
            <a:off x="1066800" y="4872368"/>
            <a:ext cx="932326" cy="416520"/>
          </a:xfrm>
          <a:prstGeom prst="rect">
            <a:avLst/>
          </a:prstGeom>
          <a:noFill/>
          <a:ln/>
        </p:spPr>
        <p:txBody>
          <a:bodyPr wrap="none" lIns="0" tIns="0" rIns="0" bIns="0" rtlCol="0" anchor="t">
            <a:normAutofit/>
          </a:bodyPr>
          <a:lstStyle/>
          <a:p>
            <a:pPr marL="0" indent="0" algn="l">
              <a:lnSpc>
                <a:spcPts val="3080"/>
              </a:lnSpc>
              <a:buNone/>
            </a:pPr>
            <a:r>
              <a:rPr lang="en-US" sz="2200" b="1" dirty="0">
                <a:solidFill>
                  <a:srgbClr val="E8A33D"/>
                </a:solidFill>
                <a:latin typeface="Arial" pitchFamily="34" charset="0"/>
                <a:ea typeface="Arial" pitchFamily="34" charset="-122"/>
                <a:cs typeface="Arial" pitchFamily="34" charset="-120"/>
              </a:rPr>
              <a:t>Runtime</a:t>
            </a:r>
            <a:endParaRPr lang="en-US" sz="2200" dirty="0"/>
          </a:p>
        </p:txBody>
      </p:sp>
      <p:sp>
        <p:nvSpPr>
          <p:cNvPr id="18" name="Text 16"/>
          <p:cNvSpPr/>
          <p:nvPr/>
        </p:nvSpPr>
        <p:spPr>
          <a:xfrm>
            <a:off x="2151526" y="4819055"/>
            <a:ext cx="924288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3EC"/>
                </a:solidFill>
                <a:latin typeface="Arial" pitchFamily="34" charset="0"/>
                <a:ea typeface="Arial" pitchFamily="34" charset="-122"/>
                <a:cs typeface="Arial" pitchFamily="34" charset="-120"/>
              </a:rPr>
              <a:t>Longer films rate higher and draw more votes: 120–139 min averages </a:t>
            </a:r>
            <a:r>
              <a:rPr lang="en-US" sz="1400" b="1" dirty="0">
                <a:solidFill>
                  <a:srgbClr val="F6F3EC"/>
                </a:solidFill>
                <a:latin typeface="Arial" pitchFamily="34" charset="0"/>
                <a:ea typeface="Arial" pitchFamily="34" charset="-122"/>
                <a:cs typeface="Arial" pitchFamily="34" charset="-120"/>
              </a:rPr>
              <a:t>6.78</a:t>
            </a:r>
            <a:r>
              <a:rPr lang="en-US" sz="1400" dirty="0">
                <a:solidFill>
                  <a:srgbClr val="F6F3EC"/>
                </a:solidFill>
                <a:latin typeface="Arial" pitchFamily="34" charset="0"/>
                <a:ea typeface="Arial" pitchFamily="34" charset="-122"/>
                <a:cs typeface="Arial" pitchFamily="34" charset="-120"/>
              </a:rPr>
              <a:t> and about </a:t>
            </a:r>
            <a:r>
              <a:rPr lang="en-US" sz="1400" b="1" dirty="0">
                <a:solidFill>
                  <a:srgbClr val="F6F3EC"/>
                </a:solidFill>
                <a:latin typeface="Arial" pitchFamily="34" charset="0"/>
                <a:ea typeface="Arial" pitchFamily="34" charset="-122"/>
                <a:cs typeface="Arial" pitchFamily="34" charset="-120"/>
              </a:rPr>
              <a:t>48k votes</a:t>
            </a:r>
            <a:r>
              <a:rPr lang="en-US" sz="1400" dirty="0">
                <a:solidFill>
                  <a:srgbClr val="F6F3EC"/>
                </a:solidFill>
                <a:latin typeface="Arial" pitchFamily="34" charset="0"/>
                <a:ea typeface="Arial" pitchFamily="34" charset="-122"/>
                <a:cs typeface="Arial" pitchFamily="34" charset="-120"/>
              </a:rPr>
              <a:t>, while 80–99 min averages </a:t>
            </a:r>
            <a:r>
              <a:rPr lang="en-US" sz="1400" b="1" dirty="0">
                <a:solidFill>
                  <a:srgbClr val="F6F3EC"/>
                </a:solidFill>
                <a:latin typeface="Arial" pitchFamily="34" charset="0"/>
                <a:ea typeface="Arial" pitchFamily="34" charset="-122"/>
                <a:cs typeface="Arial" pitchFamily="34" charset="-120"/>
              </a:rPr>
              <a:t>5.85</a:t>
            </a:r>
            <a:r>
              <a:rPr lang="en-US" sz="1400" dirty="0">
                <a:solidFill>
                  <a:srgbClr val="F6F3EC"/>
                </a:solidFill>
                <a:latin typeface="Arial" pitchFamily="34" charset="0"/>
                <a:ea typeface="Arial" pitchFamily="34" charset="-122"/>
                <a:cs typeface="Arial" pitchFamily="34" charset="-120"/>
              </a:rPr>
              <a:t> and about </a:t>
            </a:r>
            <a:r>
              <a:rPr lang="en-US" sz="1400" b="1" dirty="0">
                <a:solidFill>
                  <a:srgbClr val="F6F3EC"/>
                </a:solidFill>
                <a:latin typeface="Arial" pitchFamily="34" charset="0"/>
                <a:ea typeface="Arial" pitchFamily="34" charset="-122"/>
                <a:cs typeface="Arial" pitchFamily="34" charset="-120"/>
              </a:rPr>
              <a:t>13k</a:t>
            </a:r>
            <a:r>
              <a:rPr lang="en-US" sz="1400" dirty="0">
                <a:solidFill>
                  <a:srgbClr val="F6F3EC"/>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A"/>
                </a:solidFill>
                <a:latin typeface="Arial" pitchFamily="34" charset="0"/>
                <a:ea typeface="Arial" pitchFamily="34" charset="-122"/>
                <a:cs typeface="Arial" pitchFamily="34" charset="-120"/>
              </a:rPr>
              <a:t>Movies released 2010–2019; genre and runtime figures use movies with 1,000+ votes. 2 / 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9A5B0E"/>
                </a:solidFill>
                <a:latin typeface="Arial" pitchFamily="34" charset="0"/>
                <a:ea typeface="Arial" pitchFamily="34" charset="-122"/>
                <a:cs typeface="Arial" pitchFamily="34" charset="-120"/>
              </a:rPr>
              <a:t>BUSINESS QUESTION</a:t>
            </a:r>
            <a:endParaRPr lang="en-US" sz="1300" dirty="0"/>
          </a:p>
        </p:txBody>
      </p:sp>
      <p:sp>
        <p:nvSpPr>
          <p:cNvPr id="3" name="Text 1"/>
          <p:cNvSpPr>
            <a:spLocks noGrp="1"/>
          </p:cNvSpPr>
          <p:nvPr>
            <p:ph type="title"/>
          </p:nvPr>
        </p:nvSpPr>
        <p:spPr>
          <a:xfrm>
            <a:off x="812800" y="11455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Arial" pitchFamily="34" charset="0"/>
                <a:ea typeface="Arial" pitchFamily="34" charset="-122"/>
                <a:cs typeface="Arial" pitchFamily="34" charset="-120"/>
              </a:rPr>
              <a:t>REACH VS RATING BY GENRE</a:t>
            </a:r>
            <a:endParaRPr lang="en-US" sz="3600" dirty="0"/>
          </a:p>
        </p:txBody>
      </p:sp>
      <p:pic>
        <p:nvPicPr>
          <p:cNvPr id="4" name="Image 0" descr="Scatter plot of 19 genres: average IMDB rating on the x axis, average votes per movie on the y axis. Adventure, Sci-Fi and Fantasy have the most votes but ratings near 6. Documentary has the highest rating but the fewest votes. Animation is the only genre above average on both; Biography has a high rating and reach just below average. Horror has the lowest rating."/>
          <p:cNvPicPr>
            <a:picLocks noChangeAspect="1"/>
          </p:cNvPicPr>
          <p:nvPr/>
        </p:nvPicPr>
        <p:blipFill>
          <a:blip r:embed="rId3"/>
          <a:srcRect l="-24" r="-24"/>
          <a:stretch/>
        </p:blipFill>
        <p:spPr>
          <a:xfrm>
            <a:off x="812800" y="1902420"/>
            <a:ext cx="6604000" cy="3911600"/>
          </a:xfrm>
          <a:prstGeom prst="roundRect">
            <a:avLst>
              <a:gd name="adj" fmla="val 1948"/>
            </a:avLst>
          </a:prstGeom>
        </p:spPr>
      </p:pic>
      <p:sp>
        <p:nvSpPr>
          <p:cNvPr id="5" name="Text 2"/>
          <p:cNvSpPr/>
          <p:nvPr/>
        </p:nvSpPr>
        <p:spPr>
          <a:xfrm>
            <a:off x="7721600" y="1902420"/>
            <a:ext cx="3767328"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181D"/>
                </a:solidFill>
                <a:latin typeface="Arial" pitchFamily="34" charset="0"/>
                <a:ea typeface="Arial" pitchFamily="34" charset="-122"/>
                <a:cs typeface="Arial" pitchFamily="34" charset="-120"/>
              </a:rPr>
              <a:t>Which genres give a studio the best balance of audience reach and audience approval?</a:t>
            </a:r>
            <a:endParaRPr lang="en-US" sz="1600" dirty="0"/>
          </a:p>
        </p:txBody>
      </p:sp>
      <p:sp>
        <p:nvSpPr>
          <p:cNvPr id="6" name="Text 3"/>
          <p:cNvSpPr/>
          <p:nvPr/>
        </p:nvSpPr>
        <p:spPr>
          <a:xfrm>
            <a:off x="7721600" y="2933502"/>
            <a:ext cx="3767328" cy="98292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4F5A"/>
                </a:solidFill>
                <a:latin typeface="Arial" pitchFamily="34" charset="0"/>
                <a:ea typeface="Arial" pitchFamily="34" charset="-122"/>
                <a:cs typeface="Arial" pitchFamily="34" charset="-120"/>
              </a:rPr>
              <a:t>Should a new studio chase </a:t>
            </a:r>
            <a:r>
              <a:rPr lang="en-US" sz="1300" b="1" dirty="0">
                <a:solidFill>
                  <a:srgbClr val="2F6DB5"/>
                </a:solidFill>
                <a:latin typeface="Arial" pitchFamily="34" charset="0"/>
                <a:ea typeface="Arial" pitchFamily="34" charset="-122"/>
                <a:cs typeface="Arial" pitchFamily="34" charset="-120"/>
              </a:rPr>
              <a:t>blockbuster genres</a:t>
            </a:r>
            <a:r>
              <a:rPr lang="en-US" sz="1300" dirty="0">
                <a:solidFill>
                  <a:srgbClr val="4A4F5A"/>
                </a:solidFill>
                <a:latin typeface="Arial" pitchFamily="34" charset="0"/>
                <a:ea typeface="Arial" pitchFamily="34" charset="-122"/>
                <a:cs typeface="Arial" pitchFamily="34" charset="-120"/>
              </a:rPr>
              <a:t> like Adventure and Sci-Fi, or target genres like </a:t>
            </a:r>
            <a:r>
              <a:rPr lang="en-US" sz="1300" b="1" dirty="0">
                <a:solidFill>
                  <a:srgbClr val="9A5B0E"/>
                </a:solidFill>
                <a:latin typeface="Arial" pitchFamily="34" charset="0"/>
                <a:ea typeface="Arial" pitchFamily="34" charset="-122"/>
                <a:cs typeface="Arial" pitchFamily="34" charset="-120"/>
              </a:rPr>
              <a:t>Animation and Biography</a:t>
            </a:r>
            <a:r>
              <a:rPr lang="en-US" sz="1300" dirty="0">
                <a:solidFill>
                  <a:srgbClr val="4A4F5A"/>
                </a:solidFill>
                <a:latin typeface="Arial" pitchFamily="34" charset="0"/>
                <a:ea typeface="Arial" pitchFamily="34" charset="-122"/>
                <a:cs typeface="Arial" pitchFamily="34" charset="-120"/>
              </a:rPr>
              <a:t> that pair strong ratings with solid audiences?</a:t>
            </a:r>
            <a:endParaRPr lang="en-US" sz="1300" dirty="0"/>
          </a:p>
        </p:txBody>
      </p:sp>
      <p:sp>
        <p:nvSpPr>
          <p:cNvPr id="7" name="Text 4"/>
          <p:cNvSpPr/>
          <p:nvPr/>
        </p:nvSpPr>
        <p:spPr>
          <a:xfrm>
            <a:off x="7721600" y="4068829"/>
            <a:ext cx="3767328" cy="504164"/>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A4F5A"/>
                </a:solidFill>
                <a:latin typeface="Arial" pitchFamily="34" charset="0"/>
                <a:ea typeface="Arial" pitchFamily="34" charset="-122"/>
                <a:cs typeface="Arial" pitchFamily="34" charset="-120"/>
              </a:rPr>
              <a:t>Animation</a:t>
            </a:r>
            <a:r>
              <a:rPr lang="en-US" sz="1300" dirty="0">
                <a:solidFill>
                  <a:srgbClr val="4A4F5A"/>
                </a:solidFill>
                <a:latin typeface="Arial" pitchFamily="34" charset="0"/>
                <a:ea typeface="Arial" pitchFamily="34" charset="-122"/>
                <a:cs typeface="Arial" pitchFamily="34" charset="-120"/>
              </a:rPr>
              <a:t> is the only genre above average on both measures (6.68 rating, about 40k votes).</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F7A"/>
                </a:solidFill>
                <a:latin typeface="Arial" pitchFamily="34" charset="0"/>
                <a:ea typeface="Arial" pitchFamily="34" charset="-122"/>
                <a:cs typeface="Arial" pitchFamily="34" charset="-120"/>
              </a:rPr>
              <a:t>Bubble size = number of movies · dashed lines = average across genres · 19 genres with 150+ movies · 3 /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8A33D"/>
                </a:solidFill>
                <a:latin typeface="Arial" pitchFamily="34" charset="0"/>
                <a:ea typeface="Arial" pitchFamily="34" charset="-122"/>
                <a:cs typeface="Arial" pitchFamily="34" charset="-120"/>
              </a:rPr>
              <a:t>DATA CLEANING</a:t>
            </a:r>
            <a:endParaRPr lang="en-US" sz="1300" dirty="0"/>
          </a:p>
        </p:txBody>
      </p:sp>
      <p:sp>
        <p:nvSpPr>
          <p:cNvPr id="3" name="Text 1"/>
          <p:cNvSpPr>
            <a:spLocks noGrp="1"/>
          </p:cNvSpPr>
          <p:nvPr>
            <p:ph type="title"/>
          </p:nvPr>
        </p:nvSpPr>
        <p:spPr>
          <a:xfrm>
            <a:off x="812800" y="11455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3EC"/>
                </a:solidFill>
                <a:latin typeface="Arial" pitchFamily="34" charset="0"/>
                <a:ea typeface="Arial" pitchFamily="34" charset="-122"/>
                <a:cs typeface="Arial" pitchFamily="34" charset="-120"/>
              </a:rPr>
              <a:t>TASKS BEFORE DEEPER ANALYSIS</a:t>
            </a:r>
            <a:endParaRPr lang="en-US" sz="3600" dirty="0"/>
          </a:p>
        </p:txBody>
      </p:sp>
      <p:sp>
        <p:nvSpPr>
          <p:cNvPr id="4" name="Text 2"/>
          <p:cNvSpPr/>
          <p:nvPr/>
        </p:nvSpPr>
        <p:spPr>
          <a:xfrm>
            <a:off x="812800" y="1953220"/>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1 Year range.</a:t>
            </a:r>
            <a:r>
              <a:rPr lang="en-US" sz="1300" dirty="0">
                <a:solidFill>
                  <a:srgbClr val="C9CCD3"/>
                </a:solidFill>
                <a:latin typeface="Arial" pitchFamily="34" charset="0"/>
                <a:ea typeface="Arial" pitchFamily="34" charset="-122"/>
                <a:cs typeface="Arial" pitchFamily="34" charset="-120"/>
              </a:rPr>
              <a:t> Drop 1,063 movies with start_year after 2019; treat 2019 as incomplete.</a:t>
            </a:r>
            <a:endParaRPr lang="en-US" sz="1300" dirty="0"/>
          </a:p>
        </p:txBody>
      </p:sp>
      <p:sp>
        <p:nvSpPr>
          <p:cNvPr id="5" name="Text 3"/>
          <p:cNvSpPr/>
          <p:nvPr/>
        </p:nvSpPr>
        <p:spPr>
          <a:xfrm>
            <a:off x="6299200" y="1953220"/>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6 Duplicates.</a:t>
            </a:r>
            <a:r>
              <a:rPr lang="en-US" sz="1300" dirty="0">
                <a:solidFill>
                  <a:srgbClr val="C9CCD3"/>
                </a:solidFill>
                <a:latin typeface="Arial" pitchFamily="34" charset="0"/>
                <a:ea typeface="Arial" pitchFamily="34" charset="-122"/>
                <a:cs typeface="Arial" pitchFamily="34" charset="-120"/>
              </a:rPr>
              <a:t> directors has 291,174 rows but only 163,535 distinct movie–director pairs.</a:t>
            </a:r>
            <a:endParaRPr lang="en-US" sz="1300" dirty="0"/>
          </a:p>
        </p:txBody>
      </p:sp>
      <p:sp>
        <p:nvSpPr>
          <p:cNvPr id="6" name="Text 4"/>
          <p:cNvSpPr/>
          <p:nvPr/>
        </p:nvSpPr>
        <p:spPr>
          <a:xfrm>
            <a:off x="812800" y="2593248"/>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2 Null handling.</a:t>
            </a:r>
            <a:r>
              <a:rPr lang="en-US" sz="1300" dirty="0">
                <a:solidFill>
                  <a:srgbClr val="C9CCD3"/>
                </a:solidFill>
                <a:latin typeface="Arial" pitchFamily="34" charset="0"/>
                <a:ea typeface="Arial" pitchFamily="34" charset="-122"/>
                <a:cs typeface="Arial" pitchFamily="34" charset="-120"/>
              </a:rPr>
              <a:t> Exclude null runtime (30,765) and genres (5,359); don’t impute.</a:t>
            </a:r>
            <a:endParaRPr lang="en-US" sz="1300" dirty="0"/>
          </a:p>
        </p:txBody>
      </p:sp>
      <p:sp>
        <p:nvSpPr>
          <p:cNvPr id="7" name="Text 5"/>
          <p:cNvSpPr/>
          <p:nvPr/>
        </p:nvSpPr>
        <p:spPr>
          <a:xfrm>
            <a:off x="6299200" y="2593248"/>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7 Join on IDs.</a:t>
            </a:r>
            <a:r>
              <a:rPr lang="en-US" sz="1300" dirty="0">
                <a:solidFill>
                  <a:srgbClr val="C9CCD3"/>
                </a:solidFill>
                <a:latin typeface="Arial" pitchFamily="34" charset="0"/>
                <a:ea typeface="Arial" pitchFamily="34" charset="-122"/>
                <a:cs typeface="Arial" pitchFamily="34" charset="-120"/>
              </a:rPr>
              <a:t> Titles (“Home” × 24) and person names repeat, so use movie_id and person_id.</a:t>
            </a:r>
            <a:endParaRPr lang="en-US" sz="1300" dirty="0"/>
          </a:p>
        </p:txBody>
      </p:sp>
      <p:sp>
        <p:nvSpPr>
          <p:cNvPr id="8" name="Text 6"/>
          <p:cNvSpPr/>
          <p:nvPr/>
        </p:nvSpPr>
        <p:spPr>
          <a:xfrm>
            <a:off x="812800" y="3233276"/>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3 Normalize genres.</a:t>
            </a:r>
            <a:r>
              <a:rPr lang="en-US" sz="1300" dirty="0">
                <a:solidFill>
                  <a:srgbClr val="C9CCD3"/>
                </a:solidFill>
                <a:latin typeface="Arial" pitchFamily="34" charset="0"/>
                <a:ea typeface="Arial" pitchFamily="34" charset="-122"/>
                <a:cs typeface="Arial" pitchFamily="34" charset="-120"/>
              </a:rPr>
              <a:t> Split 1,085 comma-separated combinations into a movie–genre table.</a:t>
            </a:r>
            <a:endParaRPr lang="en-US" sz="1300" dirty="0"/>
          </a:p>
        </p:txBody>
      </p:sp>
      <p:sp>
        <p:nvSpPr>
          <p:cNvPr id="9" name="Text 7"/>
          <p:cNvSpPr/>
          <p:nvPr/>
        </p:nvSpPr>
        <p:spPr>
          <a:xfrm>
            <a:off x="6299200" y="3233276"/>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8 Data types.</a:t>
            </a:r>
            <a:r>
              <a:rPr lang="en-US" sz="1300" dirty="0">
                <a:solidFill>
                  <a:srgbClr val="C9CCD3"/>
                </a:solidFill>
                <a:latin typeface="Arial" pitchFamily="34" charset="0"/>
                <a:ea typeface="Arial" pitchFamily="34" charset="-122"/>
                <a:cs typeface="Arial" pitchFamily="34" charset="-120"/>
              </a:rPr>
              <a:t> birth_year and death_year are text and mostly null; is_original_title has 25 nulls.</a:t>
            </a:r>
            <a:endParaRPr lang="en-US" sz="1300" dirty="0"/>
          </a:p>
        </p:txBody>
      </p:sp>
      <p:sp>
        <p:nvSpPr>
          <p:cNvPr id="10" name="Text 8"/>
          <p:cNvSpPr/>
          <p:nvPr/>
        </p:nvSpPr>
        <p:spPr>
          <a:xfrm>
            <a:off x="812800" y="3873302"/>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4 Runtime outliers.</a:t>
            </a:r>
            <a:r>
              <a:rPr lang="en-US" sz="1300" dirty="0">
                <a:solidFill>
                  <a:srgbClr val="C9CCD3"/>
                </a:solidFill>
                <a:latin typeface="Arial" pitchFamily="34" charset="0"/>
                <a:ea typeface="Arial" pitchFamily="34" charset="-122"/>
                <a:cs typeface="Arial" pitchFamily="34" charset="-120"/>
              </a:rPr>
              <a:t> Up to 51,420 minutes; 123 movies over 300 min and 5,211 under 40 min.</a:t>
            </a:r>
            <a:endParaRPr lang="en-US" sz="1300" dirty="0"/>
          </a:p>
        </p:txBody>
      </p:sp>
      <p:sp>
        <p:nvSpPr>
          <p:cNvPr id="11" name="Text 9"/>
          <p:cNvSpPr/>
          <p:nvPr/>
        </p:nvSpPr>
        <p:spPr>
          <a:xfrm>
            <a:off x="6299200" y="3873302"/>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9 Missing ratings.</a:t>
            </a:r>
            <a:r>
              <a:rPr lang="en-US" sz="1300" dirty="0">
                <a:solidFill>
                  <a:srgbClr val="C9CCD3"/>
                </a:solidFill>
                <a:latin typeface="Arial" pitchFamily="34" charset="0"/>
                <a:ea typeface="Arial" pitchFamily="34" charset="-122"/>
                <a:cs typeface="Arial" pitchFamily="34" charset="-120"/>
              </a:rPr>
              <a:t> 71,225 movies have no rating, so results describe rated movies only.</a:t>
            </a:r>
            <a:endParaRPr lang="en-US" sz="1300" dirty="0"/>
          </a:p>
        </p:txBody>
      </p:sp>
      <p:sp>
        <p:nvSpPr>
          <p:cNvPr id="12" name="Text 10"/>
          <p:cNvSpPr/>
          <p:nvPr/>
        </p:nvSpPr>
        <p:spPr>
          <a:xfrm>
            <a:off x="812800" y="4513329"/>
            <a:ext cx="5232400"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A33D"/>
                </a:solidFill>
                <a:latin typeface="Arial" pitchFamily="34" charset="0"/>
                <a:ea typeface="Arial" pitchFamily="34" charset="-122"/>
                <a:cs typeface="Arial" pitchFamily="34" charset="-120"/>
              </a:rPr>
              <a:t>5 Vote threshold.</a:t>
            </a:r>
            <a:r>
              <a:rPr lang="en-US" sz="1300" dirty="0">
                <a:solidFill>
                  <a:srgbClr val="C9CCD3"/>
                </a:solidFill>
                <a:latin typeface="Arial" pitchFamily="34" charset="0"/>
                <a:ea typeface="Arial" pitchFamily="34" charset="-122"/>
                <a:cs typeface="Arial" pitchFamily="34" charset="-120"/>
              </a:rPr>
              <a:t> Require 1,000+ votes so ratings from a handful of voters don’t skew averages.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A1AA"/>
                </a:solidFill>
                <a:latin typeface="Arial" pitchFamily="34" charset="0"/>
                <a:ea typeface="Arial" pitchFamily="34" charset="-122"/>
                <a:cs typeface="Arial" pitchFamily="34" charset="-120"/>
              </a:rPr>
              <a:t>Counts for movies released 2010–2019 unless noted · 4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A3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6181D"/>
                </a:solidFill>
                <a:latin typeface="Arial" pitchFamily="34" charset="0"/>
                <a:ea typeface="Arial" pitchFamily="34" charset="-122"/>
                <a:cs typeface="Arial" pitchFamily="34" charset="-120"/>
              </a:rPr>
              <a:t>NEXT STEPS</a:t>
            </a:r>
            <a:endParaRPr lang="en-US" sz="1300" dirty="0"/>
          </a:p>
        </p:txBody>
      </p:sp>
      <p:sp>
        <p:nvSpPr>
          <p:cNvPr id="3" name="Text 1"/>
          <p:cNvSpPr>
            <a:spLocks noGrp="1"/>
          </p:cNvSpPr>
          <p:nvPr>
            <p:ph type="title"/>
          </p:nvPr>
        </p:nvSpPr>
        <p:spPr>
          <a:xfrm>
            <a:off x="812800" y="1145515"/>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16181D"/>
                </a:solidFill>
                <a:latin typeface="Arial" pitchFamily="34" charset="0"/>
                <a:ea typeface="Arial" pitchFamily="34" charset="-122"/>
                <a:cs typeface="Arial" pitchFamily="34" charset="-120"/>
              </a:rPr>
              <a:t>TEST ANIMATION AND BIOGRAPHY AS A LOWER-RISK SLATE</a:t>
            </a:r>
            <a:endParaRPr lang="en-US" sz="4800" dirty="0"/>
          </a:p>
        </p:txBody>
      </p:sp>
      <p:sp>
        <p:nvSpPr>
          <p:cNvPr id="4" name="Shape 2"/>
          <p:cNvSpPr/>
          <p:nvPr/>
        </p:nvSpPr>
        <p:spPr>
          <a:xfrm>
            <a:off x="812800" y="4371448"/>
            <a:ext cx="3386667" cy="1470554"/>
          </a:xfrm>
          <a:prstGeom prst="roundRect">
            <a:avLst>
              <a:gd name="adj" fmla="val 6909"/>
            </a:avLst>
          </a:prstGeom>
          <a:solidFill>
            <a:srgbClr val="F6E2BE"/>
          </a:solidFill>
          <a:ln/>
        </p:spPr>
      </p:sp>
      <p:sp>
        <p:nvSpPr>
          <p:cNvPr id="5" name="Text 3"/>
          <p:cNvSpPr/>
          <p:nvPr/>
        </p:nvSpPr>
        <p:spPr>
          <a:xfrm>
            <a:off x="1041400" y="4600048"/>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Arial" pitchFamily="34" charset="0"/>
                <a:ea typeface="Arial" pitchFamily="34" charset="-122"/>
                <a:cs typeface="Arial" pitchFamily="34" charset="-120"/>
              </a:rPr>
              <a:t>Clean first</a:t>
            </a:r>
            <a:endParaRPr lang="en-US" sz="1600" dirty="0"/>
          </a:p>
        </p:txBody>
      </p:sp>
      <p:sp>
        <p:nvSpPr>
          <p:cNvPr id="6" name="Text 4"/>
          <p:cNvSpPr/>
          <p:nvPr/>
        </p:nvSpPr>
        <p:spPr>
          <a:xfrm>
            <a:off x="1041400" y="4920059"/>
            <a:ext cx="3017351"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181D"/>
                </a:solidFill>
                <a:latin typeface="Arial" pitchFamily="34" charset="0"/>
                <a:ea typeface="Arial" pitchFamily="34" charset="-122"/>
                <a:cs typeface="Arial" pitchFamily="34" charset="-120"/>
              </a:rPr>
              <a:t>Apply the nine cleaning tasks, then rerun the genre analysis on the cleaned tables.</a:t>
            </a:r>
            <a:endParaRPr lang="en-US" sz="1300" dirty="0"/>
          </a:p>
        </p:txBody>
      </p:sp>
      <p:sp>
        <p:nvSpPr>
          <p:cNvPr id="7" name="Shape 5"/>
          <p:cNvSpPr/>
          <p:nvPr/>
        </p:nvSpPr>
        <p:spPr>
          <a:xfrm>
            <a:off x="4402667" y="4371448"/>
            <a:ext cx="3386667" cy="1470554"/>
          </a:xfrm>
          <a:prstGeom prst="roundRect">
            <a:avLst>
              <a:gd name="adj" fmla="val 6909"/>
            </a:avLst>
          </a:prstGeom>
          <a:solidFill>
            <a:srgbClr val="F6E2BE"/>
          </a:solidFill>
          <a:ln/>
        </p:spPr>
      </p:sp>
      <p:sp>
        <p:nvSpPr>
          <p:cNvPr id="8" name="Text 6"/>
          <p:cNvSpPr/>
          <p:nvPr/>
        </p:nvSpPr>
        <p:spPr>
          <a:xfrm>
            <a:off x="4631267" y="4600048"/>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Arial" pitchFamily="34" charset="0"/>
                <a:ea typeface="Arial" pitchFamily="34" charset="-122"/>
                <a:cs typeface="Arial" pitchFamily="34" charset="-120"/>
              </a:rPr>
              <a:t>Go deeper</a:t>
            </a:r>
            <a:endParaRPr lang="en-US" sz="1600" dirty="0"/>
          </a:p>
        </p:txBody>
      </p:sp>
      <p:sp>
        <p:nvSpPr>
          <p:cNvPr id="9" name="Text 7"/>
          <p:cNvSpPr/>
          <p:nvPr/>
        </p:nvSpPr>
        <p:spPr>
          <a:xfrm>
            <a:off x="4631267" y="4920059"/>
            <a:ext cx="3017351"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181D"/>
                </a:solidFill>
                <a:latin typeface="Arial" pitchFamily="34" charset="0"/>
                <a:ea typeface="Arial" pitchFamily="34" charset="-122"/>
                <a:cs typeface="Arial" pitchFamily="34" charset="-120"/>
              </a:rPr>
              <a:t>Compare genre combinations, runtimes and directors with track records within Animation and Biography.</a:t>
            </a:r>
            <a:endParaRPr lang="en-US" sz="1300" dirty="0"/>
          </a:p>
        </p:txBody>
      </p:sp>
      <p:sp>
        <p:nvSpPr>
          <p:cNvPr id="10" name="Shape 8"/>
          <p:cNvSpPr/>
          <p:nvPr/>
        </p:nvSpPr>
        <p:spPr>
          <a:xfrm>
            <a:off x="7992534" y="4371448"/>
            <a:ext cx="3386667" cy="1470554"/>
          </a:xfrm>
          <a:prstGeom prst="roundRect">
            <a:avLst>
              <a:gd name="adj" fmla="val 6909"/>
            </a:avLst>
          </a:prstGeom>
          <a:solidFill>
            <a:srgbClr val="F6E2BE"/>
          </a:solidFill>
          <a:ln/>
        </p:spPr>
      </p:sp>
      <p:sp>
        <p:nvSpPr>
          <p:cNvPr id="11" name="Text 9"/>
          <p:cNvSpPr/>
          <p:nvPr/>
        </p:nvSpPr>
        <p:spPr>
          <a:xfrm>
            <a:off x="8221134" y="4600048"/>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Arial" pitchFamily="34" charset="0"/>
                <a:ea typeface="Arial" pitchFamily="34" charset="-122"/>
                <a:cs typeface="Arial" pitchFamily="34" charset="-120"/>
              </a:rPr>
              <a:t>Add money</a:t>
            </a:r>
            <a:endParaRPr lang="en-US" sz="1600" dirty="0"/>
          </a:p>
        </p:txBody>
      </p:sp>
      <p:sp>
        <p:nvSpPr>
          <p:cNvPr id="12" name="Text 10"/>
          <p:cNvSpPr/>
          <p:nvPr/>
        </p:nvSpPr>
        <p:spPr>
          <a:xfrm>
            <a:off x="8221134" y="4920059"/>
            <a:ext cx="3017351"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181D"/>
                </a:solidFill>
                <a:latin typeface="Arial" pitchFamily="34" charset="0"/>
                <a:ea typeface="Arial" pitchFamily="34" charset="-122"/>
                <a:cs typeface="Arial" pitchFamily="34" charset="-120"/>
              </a:rPr>
              <a:t>Votes aren’t revenue. Join box-office and budget data before making investment decisions.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181D"/>
                </a:solidFill>
                <a:latin typeface="Arial" pitchFamily="34" charset="0"/>
                <a:ea typeface="Arial" pitchFamily="34" charset="-122"/>
                <a:cs typeface="Arial" pitchFamily="34" charset="-120"/>
              </a:rPr>
              <a:t>5 / 5</a:t>
            </a:r>
            <a:endParaRPr lang="en-US" sz="1200" dirty="0"/>
          </a:p>
        </p:txBody>
      </p:sp>
    </p:spTree>
  </p:cSld>
  <p:clrMapOvr>
    <a:masterClrMapping/>
  </p:clrMapOvr>
</p:sld>
</file>

<file path=ppt/theme/theme1.xml><?xml version="1.0" encoding="utf-8"?>
<a:theme xmlns:a="http://schemas.openxmlformats.org/drawingml/2006/main" name="IMDB Genre Exploration">
  <a:themeElements>
    <a:clrScheme name="IMDB Genre Exploration">
      <a:dk1>
        <a:srgbClr val="16181D"/>
      </a:dk1>
      <a:lt1>
        <a:srgbClr val="F6F3EC"/>
      </a:lt1>
      <a:dk2>
        <a:srgbClr val="2C2E32"/>
      </a:dk2>
      <a:lt2>
        <a:srgbClr val="BEBCB8"/>
      </a:lt2>
      <a:accent1>
        <a:srgbClr val="E8A33D"/>
      </a:accent1>
      <a:accent2>
        <a:srgbClr val="F6E2BE"/>
      </a:accent2>
      <a:accent3>
        <a:srgbClr val="9A5B0E"/>
      </a:accent3>
      <a:accent4>
        <a:srgbClr val="2F6DB5"/>
      </a:accent4>
      <a:accent5>
        <a:srgbClr val="7A4E9E"/>
      </a:accent5>
      <a:accent6>
        <a:srgbClr val="C9CCD3"/>
      </a:accent6>
      <a:hlink>
        <a:srgbClr val="0563C1"/>
      </a:hlink>
      <a:folHlink>
        <a:srgbClr val="954F72"/>
      </a:folHlink>
    </a:clrScheme>
    <a:fontScheme name="IMDB Genre Explor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835</Words>
  <Application>Microsoft Office PowerPoint</Application>
  <PresentationFormat>Widescreen</PresentationFormat>
  <Paragraphs>55</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IMDB Genre Exploration</vt:lpstr>
      <vt:lpstr>BLOCKBUSTER REACH OR CRITICAL ACCLAIM?</vt:lpstr>
      <vt:lpstr>WHAT THE DATA SHOWED</vt:lpstr>
      <vt:lpstr>REACH VS RATING BY GENRE</vt:lpstr>
      <vt:lpstr>TASKS BEFORE DEEPER ANALYSIS</vt:lpstr>
      <vt:lpstr>TEST ANIMATION AND BIOGRAPHY AS A LOWER-RISK SLATE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Genre Exploration</dc:title>
  <dc:subject/>
  <dc:creator>Diana Oira</dc:creator>
  <cp:lastModifiedBy>Diana Oira</cp:lastModifiedBy>
  <cp:revision>1</cp:revision>
  <dcterms:created xsi:type="dcterms:W3CDTF">2026-10-24T19:03:57Z</dcterms:created>
  <dcterms:modified xsi:type="dcterms:W3CDTF">2026-10-26T09:07:10Z</dcterms:modified>
</cp:coreProperties>
</file>